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0728655" cy="5212080"/>
          </a:xfrm>
          <a:prstGeom prst="rect">
            <a:avLst/>
          </a:prstGeom>
          <a:solidFill>
            <a:srgbClr val="111827"/>
          </a:solidFill>
          <a:ln w="1905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4023360" cy="347472"/>
          </a:xfrm>
          <a:prstGeom prst="rect">
            <a:avLst/>
          </a:prstGeom>
          <a:solidFill>
            <a:srgbClr val="182235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onsolas"/>
              </a:defRPr>
            </a:pPr>
            <a:r>
              <a:t>1. TITLE PAGE | INDUSTRIAL SCADA &amp; ML/DL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PREDICTIVE-MACHINE GUARD</a:t>
            </a:r>
          </a:p>
          <a:p>
            <a:pPr>
              <a:defRPr sz="1600">
                <a:solidFill>
                  <a:srgbClr val="38BDF8"/>
                </a:solidFill>
                <a:latin typeface="Segoe UI"/>
              </a:defRPr>
            </a:pPr>
            <a:r>
              <a:t>Multi-Dataset Industrial Predictive Maintenance, Counterfactual Setpoint Optimization, and Hybrid Classical ML + PyTorch Deep Learning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794760"/>
            <a:ext cx="2377440" cy="1234440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12 INDUSTRIAL DATASETS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56,266 Telemetry Rows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CNC, Turbofan, Bearings, Pumps, Wind, Robotics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9311" y="3794760"/>
            <a:ext cx="2377440" cy="1234440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7 UNIFIED ML / DL MODELS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 Classical + 3 PyTorch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XGBoost, LightGBM, RF, LogReg, ANN, 1D-CNN, BiLSTM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3794760"/>
            <a:ext cx="2377440" cy="1234440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EXPLAINABLE AI &amp; RUL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TreeSHAP + Setpoints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Local/Global SHAP, RUL Regression &amp; Health Index</a:t>
            </a:r>
          </a:p>
        </p:txBody>
      </p:sp>
      <p:sp>
        <p:nvSpPr>
          <p:cNvPr id="9" name="Rectangle 8"/>
          <p:cNvSpPr/>
          <p:nvPr/>
        </p:nvSpPr>
        <p:spPr>
          <a:xfrm>
            <a:off x="8723376" y="3794760"/>
            <a:ext cx="2377440" cy="1234440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24/7 CLOUD DEPLOYMENT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Vercel &amp; GitHub Pages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predictive-machine-guard.vercel.app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30368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0B981"/>
                </a:solidFill>
                <a:latin typeface="Consolas"/>
              </a:defRPr>
            </a:pPr>
            <a:r>
              <a:t>Developer: Darsh  |  GitHub: https://github.com/darshp6721/Predictive-Machine-Guard  |  Live URL: https://predictive-machine-guard.vercel.app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Industrial Context, Problem Statement, and Paradigm Shift from Reactive Repairs to Data-Driven Predictive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39496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3949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71016"/>
            <a:ext cx="506577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Problem Statement in Industrial Manufacturing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Unplanned equipment failure in CNC milling spindles, turbofan engines, hydraulic rigs, and power transformers causes severe production halts and safety hazards.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Traditional Run-to-Failure (Reactive) maintenance incurs catastrophic component damage and secondary shaft/bearing destruction.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Fixed-interval Preventive Maintenance replaces healthy parts prematurely while still missing sudden thermal, electrical, or overstrain anomalies.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Raw factory telemetry suffers from missing sensor dropouts (NaNs), electromagnetic interference (EMI) spikes, and severe class imbalance (3% to 22% fault rate).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39496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3949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71016"/>
            <a:ext cx="506577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Proposed Solution: Predictive-Machine Guard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An end-to-end SCADA telemetry and diagnostic platform combining Classical Machine Learning and PyTorch Deep Learning across 12 industrial benchmarks (56,266 total records).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Automates data quality auditing: Type-grouped median imputation, duplicate removal, and 2.2x IQR Winsorization to clip sensor noise without erasing fault boundaries.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Predicts 4 critical outputs simultaneously: Binary Failure Probability, Specific Failure Mode (TWF, HDF, PWF, OSF), Remaining Useful Life (RUL), and Machine Health Index (MHI).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Provides a Digital Twin Setpoint Optimizer that computes exact RPM, Torque, and Thermal adjustments to reduce failure probability in real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22191"/>
            <a:ext cx="1106424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11064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50207"/>
            <a:ext cx="1073505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12 Multi-Domain Industrial Datasets Integrated &amp; Benchmarked (56,266 Total Records)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1. UCI AI4I 2020 CNC Milling Machine (5,000 rows)  |  2. NASA CMAPSS Turbofan Engine Degradation (4,800 rows)  |  3. IEEE PHM Bearing Vibration Run-to-Failure (4,600 rows)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4. Industrial Centrifugal Pump Cavitation &amp; Seal Telemetry (4,500 rows)  |  5. Wind Turbine Gearbox &amp; Generator SCADA (5,000 rows)  |  6. Semiconductor Etch Chamber Plasma (4,400 rows)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7. Heavy Hydraulic Press &amp; Valve Pressure Cycle (4,500 rows)  |  8. High-Voltage Power Transformer Dissolved Gas &amp; Thermal (4,800 rows)  |  9. Lithium-Ion Battery Pack Cycle Aging (4,600 rows)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10. Industrial Screw Compressor Acoustic &amp; Pressure (4,500 rows)  |  11. Robotic 6-Axis Welding Arm Servo &amp; Harmonic Drive (4,766 rows)  |  12. Steel Hot Strip Rolling Mill Stand (4,800 rows)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Core Engineering, Machine Learning, Deep Learning, and Operational Goals of Predictive-Machine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35661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71016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Objective 1: Automated Telemetry Cleaning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Detect and impute missing sensor readings (3% to 5% NaN injection) using equipment-tier grouped median and mode strategies.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Identify extreme sensor spikes via 1.5x IQR Tukey fences and |Z| &gt; 3.0 audits, applying 2.2x IQR Winsorization.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143000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14300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271016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Objective 2: Physics-Informed Feature Engineering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Synthesize domain-specific physical interaction features from raw sensors: Mechanical Power [W], Overstrain Index [Nm*min], Thermal Ratio, and Torque per kRPM.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Capture non-linear electro-mechanical stress boundaries before model 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143000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14300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271016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Objective 3: 7-Model ML &amp; PyTorch DL Benchmark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Train and compare 4 Classical ML models (XGBoost, LightGBM, Random Forest, Logistic Regression) alongside 3 PyTorch Neural Networks (ANN, 1D-CNN, BiLSTM).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Handle severe class imbalance using SMOTE on stratified 70/10/20 splits.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76472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76472"/>
            <a:ext cx="35661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04487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Objective 4: Multi-Task Prognostics (RUL &amp; Modes)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Classify root-cause failure modes (Tool Wear, Heat Dissipation, Power Fault, Overstrain) rather than binary alerts alone.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Estimate continuous Remaining Useful Life (RUL in minutes) and composite Machine Health Index (0% to 100%).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776472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3776472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1" y="3904487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Objective 5: Explainable AI &amp; Counterfactual Control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Compute global and single-prediction TreeSHAP log-odds feature attributions for transparent root-cause verification.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Recommend actionable setpoint adjustments (Torque, RPM, Cooling) with quantified Post-Tuning Risk Delta.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3776472"/>
            <a:ext cx="3566160" cy="2450592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9" y="3776472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3904487"/>
            <a:ext cx="32369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Objective 6: Production SCADA Web Deployment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Deliver a responsive, zero-dependency industrial SCADA web interface with custom CSV upload/export and live telemetry streaming.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Deploy permanently on global CDNs (Vercel and GitHub Pages) with Privacy Policy and Terms &amp; Conditions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End-to-End Software Stack, Machine Learning &amp; Deep Learning Frameworks, and Cloud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5333695"/>
              </a:tblGrid>
              <a:tr h="718457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Category / Layer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Tools &amp; Libraries Used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Specific Role in Predictive-Machine Guard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Core Programming &amp; API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Python 3.11+, WSGI HTTP Server, JSON REST API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Backend model training, real-time inference endpoints (/api/predict, /api/upload-csv), and dataset routing.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Classical Machine Learning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Scikit-Learn, XGBoost, LightGBM, Imbalanced-Learn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Gradient boosted decision trees, Random Forest classification/RUL regression, Logistic Regression, and SMOTE.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Deep Learning Framework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PyTorch (torch.nn, DataLoader, AdamW, BCEWithLogitsLoss)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Custom architectures: Deep MLP (ANN), 1D Convolutional Network (1D-CNN), and Bidirectional LSTM (BiLSTM).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Data Engineering &amp; XAI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Pandas, NumPy, SciPy, SHAP (TreeExplainer), Joblib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Grouped median imputation, IQR/Z-Score outlier Winsorization, physics feature synthesis, and local/global SHAP.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SCADA Frontend UI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HTML5 Canvas, CSS3 Grid, Vanilla ES6 JavaScript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Zero-framework industrial console, real-time ROC/PR &amp; DL loss curve rendering, and client-side inference engine.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Cloud Hosting &amp; DevOps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Git, GitHub Actions, GitHub Pages CDN, Vercel CLI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Dual 24/7 production deployment (predictive-machine-guard.vercel.app &amp; GitHub Pages) with automated CI/CD.</a:t>
                      </a:r>
                    </a:p>
                  </a:txBody>
                  <a:tcPr anchor="ctr">
                    <a:solidFill>
                      <a:srgbClr val="0E15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5-Stage Industrial Telemetry Processing, Hybrid ML/DL Training, and Real-Time Decision Support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057400" cy="1417320"/>
          </a:xfrm>
          <a:prstGeom prst="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STAGE 1: INGESTION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12 Industrial Datasets</a:t>
            </a:r>
            <a:br/>
            <a:r>
              <a:t>(56,266 Rows) +</a:t>
            </a:r>
            <a:br/>
            <a:r>
              <a:t>Custom CSV Upload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1755648"/>
            <a:ext cx="137160" cy="256032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8064" y="1188720"/>
            <a:ext cx="2057400" cy="1417320"/>
          </a:xfrm>
          <a:prstGeom prst="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STAGE 2: PREPROCESSING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Duplicate Removal</a:t>
            </a:r>
            <a:br/>
            <a:r>
              <a:t>Grouped Median Impute</a:t>
            </a:r>
            <a:br/>
            <a:r>
              <a:t>2.2x IQR Winsorization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82896" y="1755648"/>
            <a:ext cx="137160" cy="256032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7488" y="1188720"/>
            <a:ext cx="2057400" cy="1417320"/>
          </a:xfrm>
          <a:prstGeom prst="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3: FEATURE ENG.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Physics Interaction Terms</a:t>
            </a:r>
            <a:br/>
            <a:r>
              <a:t>70/10/20 Stratified Split</a:t>
            </a:r>
            <a:br/>
            <a:r>
              <a:t>SMOTE Class Balancing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19" y="1755648"/>
            <a:ext cx="137160" cy="256032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96912" y="1188720"/>
            <a:ext cx="2057400" cy="1417320"/>
          </a:xfrm>
          <a:prstGeom prst="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STAGE 4: 7-MODEL SUITE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4 Classical ML Models</a:t>
            </a:r>
            <a:br/>
            <a:r>
              <a:t>3 PyTorch DL Networks</a:t>
            </a:r>
            <a:br/>
            <a:r>
              <a:t>RUL &amp; Mode Estimators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81744" y="1755648"/>
            <a:ext cx="137160" cy="256032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46336" y="1188720"/>
            <a:ext cx="2057400" cy="1417320"/>
          </a:xfrm>
          <a:prstGeom prst="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STAGE 5: SCADA &amp; XAI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TreeSHAP Attribution</a:t>
            </a:r>
            <a:br/>
            <a:r>
              <a:t>Setpoint Optimizer</a:t>
            </a:r>
            <a:br/>
            <a:r>
              <a:t>Vercel &amp; GitHub CDN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53949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53949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962656"/>
            <a:ext cx="5065776" cy="325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Data Pipeline &amp; Mathematical Formulation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Missing Value Imputation: X_imputed = fillna(GroupMedian(Type)) with global median fallback, achieving 0% residual missingness across all 56,266 records.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Outlier Treatment: Tukey audit detects [Q25 - 1.5*IQR, Q75 + 1.5*IQR]; Winsorization clips extreme spikes at [Q25 - 2.2*IQR, Q75 + 2.2*IQR].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Physics Features: Mechanical Power P = Torque * (RPM * 2*pi / 60); Overstrain = ToolWear * Torque; Thermal Ratio = ProcessTemp / AirTemp.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Class Balancing: SMOTE synthesizes minority failure vectors strictly inside the 70% training partition to prevent validation/test data leakage.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3949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53949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962656"/>
            <a:ext cx="5065776" cy="325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Multi-Model Inference &amp; Hybrid Cloud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Classical ML Branch: XGBoost, LightGBM, Random Forest, and Logistic Regression evaluated via Precision, Recall, F1, ROC-AUC, PR-AUC, MCC, and Brier Score.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PyTorch DL Branch: ANN (64-32-16 BatchNorm/Dropout MLP), 1D-CNN (16-&gt;32 Conv1d channels), and BiLSTM (Bidirectional sequence pooling + LayerNorm).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Counterfactual Setpoint Engine: Perturbs controllable parameters (Torque, RPM, Tool Wear, Cooling) toward safe medians to compute Post-Tuning Risk Delta.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Dual Runtime Execution: Supports live Python WSGI server (app.py) and browser-native standalone engine (standalone_engine.js + precomputed_states.js).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Program Code (Part 1: Preprocessing &amp; PyTorch Architectures)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Core Implementation Excerpts from ml_engine/preprocessing.py and ml_engine/deep_learning.py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40680" cy="5166360"/>
          </a:xfrm>
          <a:prstGeom prst="rect">
            <a:avLst/>
          </a:prstGeom>
          <a:solidFill>
            <a:srgbClr val="070B15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40680" cy="329184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1050" b="1">
                <a:solidFill>
                  <a:srgbClr val="38BDF8"/>
                </a:solidFill>
                <a:latin typeface="Consolas"/>
              </a:defRPr>
            </a:pPr>
            <a:r>
              <a:t>File: ml_engine/preprocessing.py (Imputation &amp; IQR Winsorization)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5221224" cy="47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8FAFC"/>
                </a:solidFill>
                <a:latin typeface="Consolas"/>
              </a:defRPr>
            </a:pPr>
            <a:r>
              <a:t>class DataQualityPreprocessor:</a:t>
            </a:r>
            <a:br/>
            <a:r>
              <a:t>    def __init__(self, iqr_multiplier: float = 2.2) -&gt; None:</a:t>
            </a:r>
            <a:br/>
            <a:r>
              <a:t>        self.iqr_multiplier = iqr_multiplier</a:t>
            </a:r>
            <a:br/>
            <a:r>
              <a:t>        self.fences, self.medians = {}, {}</a:t>
            </a:r>
            <a:br/>
            <a:br/>
            <a:r>
              <a:t>    def fit_transform(self, df: pd.DataFrame, sensor_cols: List[str]):</a:t>
            </a:r>
            <a:br/>
            <a:r>
              <a:t>        work = df.drop_duplicates().reset_index(drop=True)</a:t>
            </a:r>
            <a:br/>
            <a:r>
              <a:t>        for col in sensor_cols:</a:t>
            </a:r>
            <a:br/>
            <a:r>
              <a:t>            raw = pd.to_numeric(work[col], errors="coerce")</a:t>
            </a:r>
            <a:br/>
            <a:r>
              <a:t>            median_val = float(raw.dropna().median())</a:t>
            </a:r>
            <a:br/>
            <a:r>
              <a:t>            self.medians[col] = median_val</a:t>
            </a:r>
            <a:br/>
            <a:r>
              <a:t>            # Grouped median imputation by equipment tier</a:t>
            </a:r>
            <a:br/>
            <a:r>
              <a:t>            if "Type" in work.columns and raw.isna().sum() &gt; 0:</a:t>
            </a:r>
            <a:br/>
            <a:r>
              <a:t>                imputed = raw.fillna(</a:t>
            </a:r>
            <a:br/>
            <a:r>
              <a:t>                    work.groupby("Type")[col].transform("median")</a:t>
            </a:r>
            <a:br/>
            <a:r>
              <a:t>                ).fillna(median_val)</a:t>
            </a:r>
            <a:br/>
            <a:r>
              <a:t>            else:</a:t>
            </a:r>
            <a:br/>
            <a:r>
              <a:t>                imputed = raw.fillna(median_val)</a:t>
            </a:r>
            <a:br/>
            <a:r>
              <a:t>            # IQR Tukey audit &amp; 2.2x IQR Winsorization clipping</a:t>
            </a:r>
            <a:br/>
            <a:r>
              <a:t>            q25, q75 = float(imputed.quantile(0.25)), float(imputed.quantile(0.75))</a:t>
            </a:r>
            <a:br/>
            <a:r>
              <a:t>            iqr = max(q75 - q25, 1e-6)</a:t>
            </a:r>
            <a:br/>
            <a:r>
              <a:t>            win_low = q25 - self.iqr_multiplier * iqr</a:t>
            </a:r>
            <a:br/>
            <a:r>
              <a:t>            win_high = q75 + self.iqr_multiplier * iqr</a:t>
            </a:r>
            <a:br/>
            <a:r>
              <a:t>            self.fences[col] = (win_low, win_high)</a:t>
            </a:r>
            <a:br/>
            <a:r>
              <a:t>            work[col] = np.round(imputed.clip(win_low, win_high), 3)</a:t>
            </a:r>
            <a:br/>
            <a:r>
              <a:t>        return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43000"/>
            <a:ext cx="5440680" cy="5166360"/>
          </a:xfrm>
          <a:prstGeom prst="rect">
            <a:avLst/>
          </a:prstGeom>
          <a:solidFill>
            <a:srgbClr val="070B15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440680" cy="329184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1050" b="1">
                <a:solidFill>
                  <a:srgbClr val="38BDF8"/>
                </a:solidFill>
                <a:latin typeface="Consolas"/>
              </a:defRPr>
            </a:pPr>
            <a:r>
              <a:t>File: ml_engine/deep_learning.py (PyTorch 1D-CNN &amp; BiLSTM)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221224" cy="47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8FAFC"/>
                </a:solidFill>
                <a:latin typeface="Consolas"/>
              </a:defRPr>
            </a:pPr>
            <a:r>
              <a:t>class _Conv1DCNNNet(nn.Module):</a:t>
            </a:r>
            <a:br/>
            <a:r>
              <a:t>    """1D-CNN extracting local multi-sensor interaction patterns."""</a:t>
            </a:r>
            <a:br/>
            <a:r>
              <a:t>    def __init__(self, in_features: int) -&gt; None:</a:t>
            </a:r>
            <a:br/>
            <a:r>
              <a:t>        super().__init__()</a:t>
            </a:r>
            <a:br/>
            <a:r>
              <a:t>        self.conv_block = nn.Sequential(</a:t>
            </a:r>
            <a:br/>
            <a:r>
              <a:t>            nn.Conv1d(1, 16, kernel_size=3, padding=1),</a:t>
            </a:r>
            <a:br/>
            <a:r>
              <a:t>            nn.BatchNorm1d(16), nn.ReLU(),</a:t>
            </a:r>
            <a:br/>
            <a:r>
              <a:t>            nn.Conv1d(16, 32, kernel_size=3, padding=1),</a:t>
            </a:r>
            <a:br/>
            <a:r>
              <a:t>            nn.BatchNorm1d(32), nn.ReLU(),</a:t>
            </a:r>
            <a:br/>
            <a:r>
              <a:t>        )</a:t>
            </a:r>
            <a:br/>
            <a:r>
              <a:t>        self.head = nn.Sequential(</a:t>
            </a:r>
            <a:br/>
            <a:r>
              <a:t>            nn.Flatten(),</a:t>
            </a:r>
            <a:br/>
            <a:r>
              <a:t>            nn.Linear(32 * in_features, 32),</a:t>
            </a:r>
            <a:br/>
            <a:r>
              <a:t>            nn.ReLU(), nn.Dropout(0.15),</a:t>
            </a:r>
            <a:br/>
            <a:r>
              <a:t>            nn.Linear(32, 1),</a:t>
            </a:r>
            <a:br/>
            <a:r>
              <a:t>        )</a:t>
            </a:r>
            <a:br/>
            <a:r>
              <a:t>    def forward(self, x: torch.Tensor) -&gt; torch.Tensor:</a:t>
            </a:r>
            <a:br/>
            <a:r>
              <a:t>        return self.head(self.conv_block(x.unsqueeze(1))).squeeze(-1)</a:t>
            </a:r>
            <a:br/>
            <a:br/>
            <a:r>
              <a:t>class _BiLSTMNet(nn.Module):</a:t>
            </a:r>
            <a:br/>
            <a:r>
              <a:t>    """Bidirectional LSTM across ordered sensor channels."""</a:t>
            </a:r>
            <a:br/>
            <a:r>
              <a:t>    def __init__(self, in_features: int, hidden_size: int = 24) -&gt; None:</a:t>
            </a:r>
            <a:br/>
            <a:r>
              <a:t>        super().__init__()</a:t>
            </a:r>
            <a:br/>
            <a:r>
              <a:t>        self.lstm = nn.LSTM(1, hidden_size, batch_first=True, bidirectional=True)</a:t>
            </a:r>
            <a:br/>
            <a:r>
              <a:t>        self.norm = nn.LayerNorm(hidden_size * 2)</a:t>
            </a:r>
            <a:br/>
            <a:r>
              <a:t>        self.fc = nn.Sequential(nn.Linear(hidden_size * 2, 24), nn.ReLU(), nn.Linear(24, 1))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Program Code (Part 2: 7-Model Training Pipeline &amp; Inference Engine)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Core Implementation Excerpts from ml_engine/pipeline.py and 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40680" cy="5166360"/>
          </a:xfrm>
          <a:prstGeom prst="rect">
            <a:avLst/>
          </a:prstGeom>
          <a:solidFill>
            <a:srgbClr val="070B15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40680" cy="329184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1050" b="1">
                <a:solidFill>
                  <a:srgbClr val="38BDF8"/>
                </a:solidFill>
                <a:latin typeface="Consolas"/>
              </a:defRPr>
            </a:pPr>
            <a:r>
              <a:t>File: ml_engine/pipeline.py (SMOTE &amp; 7-Model Training Suite)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5221224" cy="47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8FAFC"/>
                </a:solidFill>
                <a:latin typeface="Consolas"/>
              </a:defRPr>
            </a:pPr>
            <a:r>
              <a:t># Stratified 70/10/20 Split + SMOTE Minority Oversampling</a:t>
            </a:r>
            <a:br/>
            <a:r>
              <a:t>X_train, X_temp, y_train, y_temp = train_test_split(</a:t>
            </a:r>
            <a:br/>
            <a:r>
              <a:t>    X, y_bin, test_size=0.30, random_state=42, stratify=y_bin</a:t>
            </a:r>
            <a:br/>
            <a:r>
              <a:t>)</a:t>
            </a:r>
            <a:br/>
            <a:r>
              <a:t>X_val, X_test, y_val, y_test = train_test_split(</a:t>
            </a:r>
            <a:br/>
            <a:r>
              <a:t>    X_temp, y_temp, test_size=0.6667, random_state=42, stratify=y_temp</a:t>
            </a:r>
            <a:br/>
            <a:r>
              <a:t>)</a:t>
            </a:r>
            <a:br/>
            <a:r>
              <a:t>if use_smote and y_train.sum() &gt;= 6:</a:t>
            </a:r>
            <a:br/>
            <a:r>
              <a:t>    smote = SMOTE(random_state=42, k_neighbors=min(5, int(y_train.sum()) - 1))</a:t>
            </a:r>
            <a:br/>
            <a:r>
              <a:t>    X_train_fit, y_train_fit = smote.fit_resample(X_train, y_train)</a:t>
            </a:r>
            <a:br/>
            <a:br/>
            <a:r>
              <a:t># 7-Model Unified Suite (4 Classical ML + 3 PyTorch Deep Learning)</a:t>
            </a:r>
            <a:br/>
            <a:r>
              <a:t>candidate_models = {</a:t>
            </a:r>
            <a:br/>
            <a:r>
              <a:t>    "XGBoost": XGBClassifier(n_estimators=180, max_depth=5, learning_rate=0.07),</a:t>
            </a:r>
            <a:br/>
            <a:r>
              <a:t>    "LightGBM": LGBMClassifier(n_estimators=180, num_leaves=31, learning_rate=0.07),</a:t>
            </a:r>
            <a:br/>
            <a:r>
              <a:t>    "Random Forest": RandomForestClassifier(n_estimators=180, max_depth=12),</a:t>
            </a:r>
            <a:br/>
            <a:r>
              <a:t>    "Logistic Regression": Pipeline([("scaler", StandardScaler()), ("clf", LogisticRegression())]),</a:t>
            </a:r>
            <a:br/>
            <a:r>
              <a:t>    "ANN (Deep MLP)": DeepLearningClassifierWrapper(arch="ANN", epochs=18),</a:t>
            </a:r>
            <a:br/>
            <a:r>
              <a:t>    "1D-CNN": DeepLearningClassifierWrapper(arch="1D-CNN", epochs=18),</a:t>
            </a:r>
            <a:br/>
            <a:r>
              <a:t>    "BiLSTM": DeepLearningClassifierWrapper(arch="BiLSTM", epochs=16),</a:t>
            </a:r>
            <a:br/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43000"/>
            <a:ext cx="5440680" cy="5166360"/>
          </a:xfrm>
          <a:prstGeom prst="rect">
            <a:avLst/>
          </a:prstGeom>
          <a:solidFill>
            <a:srgbClr val="070B15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440680" cy="329184"/>
          </a:xfrm>
          <a:prstGeom prst="rect">
            <a:avLst/>
          </a:prstGeom>
          <a:solidFill>
            <a:srgbClr val="182235"/>
          </a:solidFill>
          <a:ln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1050" b="1">
                <a:solidFill>
                  <a:srgbClr val="38BDF8"/>
                </a:solidFill>
                <a:latin typeface="Consolas"/>
              </a:defRPr>
            </a:pPr>
            <a:r>
              <a:t>File: app.py (Real-Time Telemetry Diagnostic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221224" cy="47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8FAFC"/>
                </a:solidFill>
                <a:latin typeface="Consolas"/>
              </a:defRPr>
            </a:pPr>
            <a:r>
              <a:t># Real-Time Multi-Model Diagnostic &amp; Counterfactual Setpoint Endpoint (app.py)</a:t>
            </a:r>
            <a:br/>
            <a:r>
              <a:t>@app.route("/api/predict", methods=["POST"])</a:t>
            </a:r>
            <a:br/>
            <a:r>
              <a:t>def predict_telemetry():</a:t>
            </a:r>
            <a:br/>
            <a:r>
              <a:t>    payload = request.get_json(force=True)</a:t>
            </a:r>
            <a:br/>
            <a:r>
              <a:t>    sensor_values = payload.get("sensors", {})</a:t>
            </a:r>
            <a:br/>
            <a:r>
              <a:t>    selected_model = payload.get("model_name", engine.best_model_name)</a:t>
            </a:r>
            <a:br/>
            <a:r>
              <a:t>    equipment_type = payload.get("equipment_type", "M")</a:t>
            </a:r>
            <a:br/>
            <a:br/>
            <a:r>
              <a:t>    result = engine.predict_single(</a:t>
            </a:r>
            <a:br/>
            <a:r>
              <a:t>        sensor_inputs=sensor_values,</a:t>
            </a:r>
            <a:br/>
            <a:r>
              <a:t>        model_name=selected_model,</a:t>
            </a:r>
            <a:br/>
            <a:r>
              <a:t>        equipment_type=equipment_type,</a:t>
            </a:r>
            <a:br/>
            <a:r>
              <a:t>    )</a:t>
            </a:r>
            <a:br/>
            <a:r>
              <a:t>    # Returns:</a:t>
            </a:r>
            <a:br/>
            <a:r>
              <a:t>    # - failure_probability &amp; model_probabilities (all 7 models)</a:t>
            </a:r>
            <a:br/>
            <a:r>
              <a:t>    # - health_index &amp; predicted_rul_minutes</a:t>
            </a:r>
            <a:br/>
            <a:r>
              <a:t>    # - predicted_failure_mode &amp; mode_probabilities</a:t>
            </a:r>
            <a:br/>
            <a:r>
              <a:t>    # - local_shap_contributions (TreeSHAP log-odds)</a:t>
            </a:r>
            <a:br/>
            <a:r>
              <a:t>    # - ai_recommendation (Counterfactual setpoints &amp; Post-Tuning Risk Delta)</a:t>
            </a:r>
            <a:br/>
            <a:r>
              <a:t>    return jsonify(result)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Output Screenshots (Tab 1: Digital Twin &amp; Tab 2: 7-Model Evaluation)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Captures from Predictive-Machine Guard Showing Real-Time Setpoint Optimization and ROC / DL Loss 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pic>
        <p:nvPicPr>
          <p:cNvPr id="7" name="Picture 6" descr="output_1_telemetry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0432"/>
            <a:ext cx="5440680" cy="3060382"/>
          </a:xfrm>
          <a:prstGeom prst="rect">
            <a:avLst/>
          </a:prstGeom>
        </p:spPr>
      </p:pic>
      <p:pic>
        <p:nvPicPr>
          <p:cNvPr id="8" name="Picture 7" descr="output_2_models_prescri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70432"/>
            <a:ext cx="5440680" cy="30603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343400"/>
            <a:ext cx="544068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4340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71416"/>
            <a:ext cx="5111496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Screenshot 1: Digital Twin Telemetry &amp; Setpoint Optimizer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Displays 5 executive KPI cards: Stratified Split (5,000 rows), Preprocessing Audit (296 NaNs imputed, 646 IQR outliers Winsorized), Top Model F1, RUL R-Squared (0.8536), and Fault Rate.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Interactive sliders adjust Air Temp, Process Temp, RPM, Torque, and Tool Wear with real-time 7-model failure probabilities and Counterfactual Setpoint prescriptions.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343400"/>
            <a:ext cx="544068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4343400"/>
            <a:ext cx="5440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471416"/>
            <a:ext cx="5111496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Screenshot 2: Classical ML &amp; PyTorch Deep Learning Evaluation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Benchmarks all 7 models across Accuracy, Precision, Recall, F1-Score, ROC-AUC, PR-AUC, MCC, and Brier Calibration Loss.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Renders multi-model ROC curves and epoch-by-epoch PyTorch Training vs. Validation BCE loss convergence for ANN, 1D-CNN, and BiLSTM.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Output Screenshots (Tab 3: TreeSHAP XAI &amp; Tab 4: Preprocessing Audit)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Captures Showing Global TreeSHAP Feature Importance, Multi-Class Fault Matrix, and Per-Sensor Cleaning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pic>
        <p:nvPicPr>
          <p:cNvPr id="7" name="Picture 6" descr="output_3_preprocessin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0432"/>
            <a:ext cx="5440680" cy="3060382"/>
          </a:xfrm>
          <a:prstGeom prst="rect">
            <a:avLst/>
          </a:prstGeom>
        </p:spPr>
      </p:pic>
      <p:pic>
        <p:nvPicPr>
          <p:cNvPr id="8" name="Picture 7" descr="output_4_data_cleaning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70432"/>
            <a:ext cx="5440680" cy="30603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343400"/>
            <a:ext cx="544068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43400"/>
            <a:ext cx="5440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71416"/>
            <a:ext cx="5111496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Screenshot 3: TreeSHAP Attribution &amp; Failure Mode Classification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Quantifies global TreeSHAP feature importance across raw sensors and physics-engineered features (Mechanical Power, Overstrain Index, Temp Diff).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Evaluates multi-class root-cause classification across Tool Wear (TWF), Heat Dissipation (HDF), Power Fault (PWF), and Overstrain (OSF).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343400"/>
            <a:ext cx="544068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434340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471416"/>
            <a:ext cx="5111496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Screenshot 4: Automated Preprocessing Audit &amp; CSV Ingestion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Logs column-by-column missing value counts before/after grouped median imputation and IQR/Z-Score outlier Winsorization bounds.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Supports instant drag-and-drop Custom CSV ingestion and cleaned dataset CSV export directly from the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691640" cy="310896"/>
          </a:xfrm>
          <a:prstGeom prst="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SECTION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7744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Empirical Findings Across 12 Industrial Datasets, Operational Impact, and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Predictive-Machine Guard | Applied ML &amp; PyTorch DL Predictive Maintenance | https://predictive-machine-guard.vercel.app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4068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71016"/>
            <a:ext cx="511149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Key Experimental &amp; Technical Achievements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Processed and cleaned 56,266 industrial telemetry rows across 12 distinct manufacturing domains with 100% missing-value recovery and robust 2.2x IQR Winsorization.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Demonstrated that Physics-Informed Features (Mechanical Power, Overstrain Index, Thermal Ratio) consistently rank in the top 3 TreeSHAP attributions across all machinery types.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Achieved 97.9% to 99.6% ROC-AUC and 86.6% to 93.4% held-out F1-scores using ensemble gradient boosting (XGBoost, LightGBM, Random Forest) paired with PyTorch neural networks.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Bridged the gap between black-box prediction and shop-floor action via Counterfactual Setpoint Optimization (computing exact Torque/RPM adjustments and Post-Tuning Risk Delta).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43000"/>
            <a:ext cx="544068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440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271016"/>
            <a:ext cx="511149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Future Scope &amp; Industrial Extensions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OPC-UA &amp; MQTT Edge Streaming: Direct real-time ingestion from industrial PLCs (Siemens S7, Allen-Bradley) at sub-second polling intervals.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Transformer &amp; Temporal Fusion Architectures: Extending the PyTorch sequence module with multi-horizon Temporal Fusion Transformers for long-range RUL forecasting.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Automated Work-Order Dispatch: Webhook integration with enterprise CMMS platforms (SAP PM, IBM Maximo) when predicted failure risk exceeds critical thresholds.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Federated Multi-Plant Learning: Updating PyTorch model weights across distributed factory sites without centralizing proprietary raw telemetry.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58768"/>
            <a:ext cx="11094415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6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58768"/>
            <a:ext cx="1109441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86783"/>
            <a:ext cx="10765231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Live Production Access &amp; Repository Links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Choice B (Vercel Global CDN): https://predictive-machine-guard.vercel.app  (Includes /privacy and /terms compliance pages)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Choice C (GitHub Pages CDN): https://darshp6721.github.io/Predictive-Machine-Guard/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Source Code &amp; 12-Dataset Suite: https://github.com/darshp6721/Predictive-Machine-Guard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  <a:latin typeface="Segoe UI"/>
              </a:defRPr>
            </a:pPr>
            <a:r>
              <a:t>&gt; Summary: Predictive-Machine Guard delivers a complete, transparent, and globally deployed industrial predictive maintenance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